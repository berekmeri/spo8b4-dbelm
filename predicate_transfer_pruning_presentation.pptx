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5" r:id="rId9"/>
    <p:sldId id="266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1" d="100"/>
          <a:sy n="151" d="100"/>
        </p:scale>
        <p:origin x="2094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03405"/>
            <a:ext cx="73152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632201"/>
            <a:ext cx="73152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932170" y="4323845"/>
            <a:ext cx="2297429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4400" y="4323846"/>
            <a:ext cx="488061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7900" y="1430867"/>
            <a:ext cx="21717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7632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781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753534"/>
            <a:ext cx="7955280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3641726"/>
            <a:ext cx="7955281" cy="1354134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857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94360" y="2194560"/>
            <a:ext cx="3910579" cy="406908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2099" y="2194560"/>
            <a:ext cx="3907540" cy="406908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875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762000"/>
            <a:ext cx="6377940" cy="12954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1279" y="2183802"/>
            <a:ext cx="3683659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4359" y="3132667"/>
            <a:ext cx="3910579" cy="313097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9018" y="2183802"/>
            <a:ext cx="368062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2098" y="3132667"/>
            <a:ext cx="3907541" cy="313097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775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17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2743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1524000"/>
            <a:ext cx="30861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0" y="746760"/>
            <a:ext cx="4663440" cy="5516880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3124200"/>
            <a:ext cx="3086100" cy="313944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399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1524000"/>
            <a:ext cx="407573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77524" y="751242"/>
            <a:ext cx="3674234" cy="5512398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3124200"/>
            <a:ext cx="4075730" cy="313944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147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55" y="4697361"/>
            <a:ext cx="7956482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94355" y="977035"/>
            <a:ext cx="7950260" cy="3406972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5516716"/>
            <a:ext cx="7955280" cy="746924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293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753533"/>
            <a:ext cx="795528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649134"/>
            <a:ext cx="7772400" cy="1330852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901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1" y="753534"/>
            <a:ext cx="7613650" cy="2756234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977899" y="3509768"/>
            <a:ext cx="7194552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174597"/>
            <a:ext cx="7778752" cy="821265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79438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31458" y="807720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733" y="3021330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866071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124702"/>
            <a:ext cx="7774782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92" y="3648316"/>
            <a:ext cx="7773608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78884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78884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7710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171701" y="762000"/>
            <a:ext cx="6377939" cy="130386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94361" y="2202080"/>
            <a:ext cx="2560320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94360" y="2904564"/>
            <a:ext cx="2560320" cy="335907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02237" y="2201333"/>
            <a:ext cx="2560320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00781" y="2904068"/>
            <a:ext cx="2560320" cy="335957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9319" y="2192866"/>
            <a:ext cx="2560320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89320" y="2904564"/>
            <a:ext cx="2560320" cy="335907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1181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171702" y="762000"/>
            <a:ext cx="6381984" cy="12954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94360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94360" y="2331720"/>
            <a:ext cx="2560320" cy="15073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94360" y="4796103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91873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291872" y="2331720"/>
            <a:ext cx="2560320" cy="1509862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290858" y="4796102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93365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93364" y="2331721"/>
            <a:ext cx="2560320" cy="1508919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93272" y="4796100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0441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4360" y="2194560"/>
            <a:ext cx="7955280" cy="406908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5104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06590" y="747183"/>
            <a:ext cx="1543050" cy="424867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4360" y="746126"/>
            <a:ext cx="6278035" cy="4249732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796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08108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71700" y="764373"/>
            <a:ext cx="637794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2194560"/>
            <a:ext cx="7955280" cy="40690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12230" y="6356351"/>
            <a:ext cx="21374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4360" y="6355846"/>
            <a:ext cx="56807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72250" y="381001"/>
            <a:ext cx="19773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8841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Algoritmus: Distributed Predicate Transfer és Pruning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Motiváció: Miért kell Predicate Transfer?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lnSpc>
                <a:spcPct val="150000"/>
              </a:lnSpc>
              <a:defRPr sz="1800"/>
            </a:pPr>
            <a:r>
              <a:rPr sz="2400" dirty="0"/>
              <a:t>JOIN </a:t>
            </a:r>
            <a:r>
              <a:rPr sz="2400" dirty="0" err="1"/>
              <a:t>műveletek</a:t>
            </a:r>
            <a:r>
              <a:rPr sz="2400" dirty="0"/>
              <a:t> </a:t>
            </a:r>
            <a:r>
              <a:rPr sz="2400" dirty="0" err="1"/>
              <a:t>sok</a:t>
            </a:r>
            <a:r>
              <a:rPr sz="2400" dirty="0"/>
              <a:t> </a:t>
            </a:r>
            <a:r>
              <a:rPr sz="2400" dirty="0" err="1"/>
              <a:t>felesleges</a:t>
            </a:r>
            <a:r>
              <a:rPr sz="2400" dirty="0"/>
              <a:t> sort </a:t>
            </a:r>
            <a:r>
              <a:rPr sz="2400" dirty="0" err="1"/>
              <a:t>dolgoznak</a:t>
            </a:r>
            <a:r>
              <a:rPr sz="2400" dirty="0"/>
              <a:t> </a:t>
            </a:r>
            <a:r>
              <a:rPr sz="2400" dirty="0" err="1"/>
              <a:t>fel</a:t>
            </a:r>
            <a:endParaRPr sz="2400" dirty="0"/>
          </a:p>
          <a:p>
            <a:pPr>
              <a:lnSpc>
                <a:spcPct val="150000"/>
              </a:lnSpc>
              <a:defRPr sz="1800"/>
            </a:pPr>
            <a:r>
              <a:rPr sz="2400" dirty="0" err="1"/>
              <a:t>Előszűrés</a:t>
            </a:r>
            <a:r>
              <a:rPr sz="2400" dirty="0"/>
              <a:t> </a:t>
            </a:r>
            <a:r>
              <a:rPr sz="2400" dirty="0" err="1"/>
              <a:t>nélkül</a:t>
            </a:r>
            <a:r>
              <a:rPr sz="2400" dirty="0"/>
              <a:t> a JOIN </a:t>
            </a:r>
            <a:r>
              <a:rPr sz="2400" dirty="0" err="1"/>
              <a:t>nagyon</a:t>
            </a:r>
            <a:r>
              <a:rPr sz="2400" dirty="0"/>
              <a:t> </a:t>
            </a:r>
            <a:r>
              <a:rPr sz="2400" dirty="0" err="1"/>
              <a:t>drága</a:t>
            </a:r>
            <a:endParaRPr sz="2400" dirty="0"/>
          </a:p>
          <a:p>
            <a:pPr>
              <a:lnSpc>
                <a:spcPct val="150000"/>
              </a:lnSpc>
              <a:defRPr sz="1800"/>
            </a:pPr>
            <a:r>
              <a:rPr sz="2400" dirty="0" err="1"/>
              <a:t>Cél</a:t>
            </a:r>
            <a:r>
              <a:rPr sz="2400" dirty="0"/>
              <a:t>: </a:t>
            </a:r>
            <a:r>
              <a:rPr sz="2400" dirty="0" err="1"/>
              <a:t>minél</a:t>
            </a:r>
            <a:r>
              <a:rPr sz="2400" dirty="0"/>
              <a:t> </a:t>
            </a:r>
            <a:r>
              <a:rPr sz="2400" dirty="0" err="1"/>
              <a:t>több</a:t>
            </a:r>
            <a:r>
              <a:rPr sz="2400" dirty="0"/>
              <a:t> </a:t>
            </a:r>
            <a:r>
              <a:rPr sz="2400" dirty="0" err="1"/>
              <a:t>irreleváns</a:t>
            </a:r>
            <a:r>
              <a:rPr sz="2400" dirty="0"/>
              <a:t> </a:t>
            </a:r>
            <a:r>
              <a:rPr sz="2400" dirty="0" err="1"/>
              <a:t>sor</a:t>
            </a:r>
            <a:r>
              <a:rPr sz="2400" dirty="0"/>
              <a:t> </a:t>
            </a:r>
            <a:r>
              <a:rPr sz="2400" dirty="0" err="1"/>
              <a:t>eltávolítása</a:t>
            </a:r>
            <a:r>
              <a:rPr sz="2400" dirty="0"/>
              <a:t> </a:t>
            </a:r>
            <a:r>
              <a:rPr sz="2400" dirty="0" err="1"/>
              <a:t>még</a:t>
            </a:r>
            <a:r>
              <a:rPr sz="2400" dirty="0"/>
              <a:t> JOIN </a:t>
            </a:r>
            <a:r>
              <a:rPr sz="2400" dirty="0" err="1"/>
              <a:t>előtt</a:t>
            </a:r>
            <a:endParaRPr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Predicate Transfer alapötlete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lnSpc>
                <a:spcPct val="150000"/>
              </a:lnSpc>
              <a:defRPr sz="1800"/>
            </a:pPr>
            <a:r>
              <a:rPr sz="2400" dirty="0"/>
              <a:t>Minden </a:t>
            </a:r>
            <a:r>
              <a:rPr sz="2400" dirty="0" err="1"/>
              <a:t>tábla</a:t>
            </a:r>
            <a:r>
              <a:rPr sz="2400" dirty="0"/>
              <a:t> Bloom </a:t>
            </a:r>
            <a:r>
              <a:rPr sz="2400" dirty="0" err="1"/>
              <a:t>filtert</a:t>
            </a:r>
            <a:r>
              <a:rPr sz="2400" dirty="0"/>
              <a:t> </a:t>
            </a:r>
            <a:r>
              <a:rPr sz="2400" dirty="0" err="1"/>
              <a:t>épít</a:t>
            </a:r>
            <a:r>
              <a:rPr sz="2400" dirty="0"/>
              <a:t> a join </a:t>
            </a:r>
            <a:r>
              <a:rPr sz="2400" dirty="0" err="1"/>
              <a:t>kulcsaira</a:t>
            </a:r>
            <a:endParaRPr sz="2400" dirty="0"/>
          </a:p>
          <a:p>
            <a:pPr>
              <a:lnSpc>
                <a:spcPct val="150000"/>
              </a:lnSpc>
              <a:defRPr sz="1800"/>
            </a:pPr>
            <a:r>
              <a:rPr sz="2400" dirty="0"/>
              <a:t>A </a:t>
            </a:r>
            <a:r>
              <a:rPr sz="2400" dirty="0" err="1"/>
              <a:t>filtereket</a:t>
            </a:r>
            <a:r>
              <a:rPr sz="2400" dirty="0"/>
              <a:t> </a:t>
            </a:r>
            <a:r>
              <a:rPr sz="2400" dirty="0" err="1"/>
              <a:t>átküldik</a:t>
            </a:r>
            <a:r>
              <a:rPr sz="2400" dirty="0"/>
              <a:t> a </a:t>
            </a:r>
            <a:r>
              <a:rPr sz="2400" dirty="0" err="1"/>
              <a:t>szomszédos</a:t>
            </a:r>
            <a:r>
              <a:rPr sz="2400" dirty="0"/>
              <a:t> </a:t>
            </a:r>
            <a:r>
              <a:rPr sz="2400" dirty="0" err="1"/>
              <a:t>tábláknak</a:t>
            </a:r>
            <a:endParaRPr sz="2400" dirty="0"/>
          </a:p>
          <a:p>
            <a:pPr>
              <a:lnSpc>
                <a:spcPct val="150000"/>
              </a:lnSpc>
              <a:defRPr sz="1800"/>
            </a:pPr>
            <a:r>
              <a:rPr sz="2400" dirty="0" err="1"/>
              <a:t>Ahol</a:t>
            </a:r>
            <a:r>
              <a:rPr sz="2400" dirty="0"/>
              <a:t> a </a:t>
            </a:r>
            <a:r>
              <a:rPr sz="2400" dirty="0" err="1"/>
              <a:t>kulcs</a:t>
            </a:r>
            <a:r>
              <a:rPr sz="2400" dirty="0"/>
              <a:t> </a:t>
            </a:r>
            <a:r>
              <a:rPr sz="2400" dirty="0" err="1"/>
              <a:t>nem</a:t>
            </a:r>
            <a:r>
              <a:rPr sz="2400" dirty="0"/>
              <a:t> </a:t>
            </a:r>
            <a:r>
              <a:rPr sz="2400" dirty="0" err="1"/>
              <a:t>lehet</a:t>
            </a:r>
            <a:r>
              <a:rPr sz="2400" dirty="0"/>
              <a:t> </a:t>
            </a:r>
            <a:r>
              <a:rPr sz="2400" dirty="0" err="1"/>
              <a:t>találat</a:t>
            </a:r>
            <a:r>
              <a:rPr sz="2400" dirty="0"/>
              <a:t> → </a:t>
            </a:r>
            <a:r>
              <a:rPr sz="2400" dirty="0" err="1"/>
              <a:t>sor</a:t>
            </a:r>
            <a:r>
              <a:rPr sz="2400" dirty="0"/>
              <a:t> </a:t>
            </a:r>
            <a:r>
              <a:rPr sz="2400" dirty="0" err="1"/>
              <a:t>törölhető</a:t>
            </a:r>
            <a:endParaRPr sz="2400" dirty="0"/>
          </a:p>
          <a:p>
            <a:pPr>
              <a:lnSpc>
                <a:spcPct val="150000"/>
              </a:lnSpc>
              <a:defRPr sz="1800"/>
            </a:pPr>
            <a:r>
              <a:rPr sz="2400" dirty="0" err="1"/>
              <a:t>Két</a:t>
            </a:r>
            <a:r>
              <a:rPr sz="2400" dirty="0"/>
              <a:t> </a:t>
            </a:r>
            <a:r>
              <a:rPr sz="2400" dirty="0" err="1"/>
              <a:t>fázis</a:t>
            </a:r>
            <a:r>
              <a:rPr sz="2400" dirty="0"/>
              <a:t>: forward </a:t>
            </a:r>
            <a:r>
              <a:rPr sz="2400" dirty="0" err="1"/>
              <a:t>és</a:t>
            </a:r>
            <a:r>
              <a:rPr sz="2400" dirty="0"/>
              <a:t> backward pass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Forward és Backward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dirty="0"/>
          </a:p>
          <a:p>
            <a:pPr>
              <a:lnSpc>
                <a:spcPct val="150000"/>
              </a:lnSpc>
              <a:defRPr sz="1800"/>
            </a:pPr>
            <a:r>
              <a:rPr sz="2400" dirty="0"/>
              <a:t>Forward:</a:t>
            </a:r>
          </a:p>
          <a:p>
            <a:pPr marL="0" indent="0">
              <a:buNone/>
              <a:defRPr sz="1800"/>
            </a:pPr>
            <a:r>
              <a:rPr lang="hu-HU" dirty="0"/>
              <a:t>	A gráf irányában (gyökértől a levelek felé) terjednek a Bloom filterek,</a:t>
            </a:r>
            <a:br>
              <a:rPr lang="hu-HU" dirty="0"/>
            </a:br>
            <a:r>
              <a:rPr lang="hu-HU" dirty="0"/>
              <a:t>	és minden tábla kiszűri azokat a sorokat, amelyek biztosan nem 	illeszkednek a szomszédos táblákhoz.</a:t>
            </a:r>
          </a:p>
          <a:p>
            <a:pPr>
              <a:lnSpc>
                <a:spcPct val="150000"/>
              </a:lnSpc>
              <a:defRPr sz="1800"/>
            </a:pPr>
            <a:r>
              <a:rPr lang="hu-HU" sz="2400" dirty="0" err="1"/>
              <a:t>Backward</a:t>
            </a:r>
            <a:r>
              <a:rPr lang="hu-HU" sz="2400" dirty="0"/>
              <a:t>:</a:t>
            </a:r>
          </a:p>
          <a:p>
            <a:pPr marL="0" indent="0">
              <a:buNone/>
              <a:defRPr sz="1800"/>
            </a:pPr>
            <a:r>
              <a:rPr lang="hu-HU" dirty="0"/>
              <a:t>	A levelektől visszafelé terjednek a Bloom filterek,</a:t>
            </a:r>
            <a:br>
              <a:rPr lang="hu-HU" dirty="0"/>
            </a:br>
            <a:r>
              <a:rPr lang="hu-HU" dirty="0"/>
              <a:t>	így a szülő táblák is eldobhatnak olyan sorokat, amelyekhez a későbbi 	kapcsolatok szerint nincs illeszkedő rekord.</a:t>
            </a:r>
          </a:p>
          <a:p>
            <a:pPr>
              <a:lnSpc>
                <a:spcPct val="160000"/>
              </a:lnSpc>
              <a:defRPr sz="1800"/>
            </a:pPr>
            <a:r>
              <a:rPr sz="2400" dirty="0" err="1"/>
              <a:t>Eredmény</a:t>
            </a:r>
            <a:r>
              <a:rPr sz="2400" dirty="0"/>
              <a:t>: </a:t>
            </a:r>
            <a:endParaRPr lang="hu-HU" sz="2400" dirty="0"/>
          </a:p>
          <a:p>
            <a:pPr marL="0" indent="0">
              <a:buNone/>
              <a:defRPr sz="1800"/>
            </a:pPr>
            <a:r>
              <a:rPr lang="hu-HU" dirty="0"/>
              <a:t>	</a:t>
            </a:r>
            <a:r>
              <a:rPr dirty="0" err="1"/>
              <a:t>nagyon</a:t>
            </a:r>
            <a:r>
              <a:rPr dirty="0"/>
              <a:t> </a:t>
            </a:r>
            <a:r>
              <a:rPr dirty="0" err="1"/>
              <a:t>erős</a:t>
            </a:r>
            <a:r>
              <a:rPr dirty="0"/>
              <a:t> </a:t>
            </a:r>
            <a:r>
              <a:rPr dirty="0" err="1"/>
              <a:t>előszűrés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Miért kell Pruning?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lnSpc>
                <a:spcPct val="150000"/>
              </a:lnSpc>
              <a:defRPr sz="1800"/>
            </a:pPr>
            <a:r>
              <a:rPr sz="2400" dirty="0"/>
              <a:t>Sok predicate transfer </a:t>
            </a:r>
            <a:r>
              <a:rPr sz="2400" dirty="0" err="1"/>
              <a:t>lépés</a:t>
            </a:r>
            <a:r>
              <a:rPr sz="2400" dirty="0"/>
              <a:t> </a:t>
            </a:r>
            <a:r>
              <a:rPr sz="2400" dirty="0" err="1"/>
              <a:t>valójában</a:t>
            </a:r>
            <a:r>
              <a:rPr sz="2400" dirty="0"/>
              <a:t> </a:t>
            </a:r>
            <a:r>
              <a:rPr sz="2400" dirty="0" err="1"/>
              <a:t>semmit</a:t>
            </a:r>
            <a:r>
              <a:rPr sz="2400" dirty="0"/>
              <a:t> </a:t>
            </a:r>
            <a:r>
              <a:rPr sz="2400" dirty="0" err="1"/>
              <a:t>nem</a:t>
            </a:r>
            <a:r>
              <a:rPr sz="2400" dirty="0"/>
              <a:t> </a:t>
            </a:r>
            <a:r>
              <a:rPr sz="2400" dirty="0" err="1"/>
              <a:t>szűr</a:t>
            </a:r>
            <a:endParaRPr sz="2400" dirty="0"/>
          </a:p>
          <a:p>
            <a:pPr>
              <a:lnSpc>
                <a:spcPct val="150000"/>
              </a:lnSpc>
              <a:defRPr sz="1800"/>
            </a:pPr>
            <a:r>
              <a:rPr sz="2400" dirty="0"/>
              <a:t>Minden </a:t>
            </a:r>
            <a:r>
              <a:rPr sz="2400" dirty="0" err="1"/>
              <a:t>fölösleges</a:t>
            </a:r>
            <a:r>
              <a:rPr sz="2400" dirty="0"/>
              <a:t> </a:t>
            </a:r>
            <a:r>
              <a:rPr sz="2400" dirty="0" err="1"/>
              <a:t>lépés</a:t>
            </a:r>
            <a:r>
              <a:rPr sz="2400" dirty="0"/>
              <a:t> CPU </a:t>
            </a:r>
            <a:r>
              <a:rPr sz="2400" dirty="0" err="1"/>
              <a:t>és</a:t>
            </a:r>
            <a:r>
              <a:rPr sz="2400" dirty="0"/>
              <a:t> </a:t>
            </a:r>
            <a:r>
              <a:rPr sz="2400" dirty="0" err="1"/>
              <a:t>hálózati</a:t>
            </a:r>
            <a:r>
              <a:rPr sz="2400" dirty="0"/>
              <a:t> </a:t>
            </a:r>
            <a:r>
              <a:rPr sz="2400" dirty="0" err="1"/>
              <a:t>költség</a:t>
            </a:r>
            <a:endParaRPr sz="2400" dirty="0"/>
          </a:p>
          <a:p>
            <a:pPr>
              <a:lnSpc>
                <a:spcPct val="150000"/>
              </a:lnSpc>
              <a:defRPr sz="1800"/>
            </a:pPr>
            <a:r>
              <a:rPr sz="2400" dirty="0" err="1"/>
              <a:t>Cél</a:t>
            </a:r>
            <a:r>
              <a:rPr sz="2400" dirty="0"/>
              <a:t>: </a:t>
            </a:r>
            <a:r>
              <a:rPr sz="2400" dirty="0" err="1"/>
              <a:t>eldönteni</a:t>
            </a:r>
            <a:r>
              <a:rPr sz="2400" dirty="0"/>
              <a:t>, </a:t>
            </a:r>
            <a:r>
              <a:rPr sz="2400" dirty="0" err="1"/>
              <a:t>mely</a:t>
            </a:r>
            <a:r>
              <a:rPr sz="2400" dirty="0"/>
              <a:t> </a:t>
            </a:r>
            <a:r>
              <a:rPr sz="2400" dirty="0" err="1"/>
              <a:t>lépéseket</a:t>
            </a:r>
            <a:r>
              <a:rPr sz="2400" dirty="0"/>
              <a:t> </a:t>
            </a:r>
            <a:r>
              <a:rPr sz="2400" dirty="0" err="1"/>
              <a:t>érdemes</a:t>
            </a:r>
            <a:r>
              <a:rPr sz="2400" dirty="0"/>
              <a:t> </a:t>
            </a:r>
            <a:r>
              <a:rPr sz="2400" dirty="0" err="1"/>
              <a:t>megtartani</a:t>
            </a:r>
            <a:endParaRPr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Pruning feltételei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endParaRPr dirty="0"/>
          </a:p>
          <a:p>
            <a:pPr marL="0" indent="0">
              <a:lnSpc>
                <a:spcPct val="150000"/>
              </a:lnSpc>
              <a:buNone/>
              <a:defRPr sz="1800"/>
            </a:pPr>
            <a:r>
              <a:rPr lang="hu-HU" sz="2400" dirty="0"/>
              <a:t>1. </a:t>
            </a:r>
            <a:r>
              <a:rPr sz="2400" dirty="0"/>
              <a:t>Join Key Containment:</a:t>
            </a:r>
            <a:endParaRPr lang="hu-HU" sz="2400" dirty="0"/>
          </a:p>
          <a:p>
            <a:pPr marL="0" indent="0">
              <a:lnSpc>
                <a:spcPct val="150000"/>
              </a:lnSpc>
              <a:buNone/>
              <a:defRPr sz="1800"/>
            </a:pPr>
            <a:r>
              <a:rPr lang="hu-HU" dirty="0"/>
              <a:t>	</a:t>
            </a:r>
            <a:r>
              <a:rPr b="1" dirty="0" err="1"/>
              <a:t>dst.join_keys</a:t>
            </a:r>
            <a:r>
              <a:rPr b="1" dirty="0"/>
              <a:t> ⊆ </a:t>
            </a:r>
            <a:r>
              <a:rPr b="1" dirty="0" err="1"/>
              <a:t>src.join_keys</a:t>
            </a:r>
            <a:endParaRPr b="1" dirty="0"/>
          </a:p>
          <a:p>
            <a:pPr marL="0" indent="0">
              <a:lnSpc>
                <a:spcPct val="150000"/>
              </a:lnSpc>
              <a:buNone/>
              <a:defRPr sz="1800"/>
            </a:pPr>
            <a:r>
              <a:rPr lang="hu-HU" sz="2400" dirty="0"/>
              <a:t>2. </a:t>
            </a:r>
            <a:r>
              <a:rPr sz="2400" dirty="0"/>
              <a:t>Predicate Containment:</a:t>
            </a:r>
            <a:endParaRPr lang="hu-HU" sz="2400" dirty="0"/>
          </a:p>
          <a:p>
            <a:pPr marL="0" indent="0">
              <a:lnSpc>
                <a:spcPct val="150000"/>
              </a:lnSpc>
              <a:buNone/>
              <a:defRPr sz="1800"/>
            </a:pPr>
            <a:r>
              <a:rPr lang="hu-HU" dirty="0"/>
              <a:t>	</a:t>
            </a:r>
            <a:r>
              <a:rPr b="1" dirty="0" err="1"/>
              <a:t>dst</a:t>
            </a:r>
            <a:r>
              <a:rPr b="1" dirty="0"/>
              <a:t> </a:t>
            </a:r>
            <a:r>
              <a:rPr b="1" dirty="0" err="1"/>
              <a:t>predikátumai</a:t>
            </a:r>
            <a:r>
              <a:rPr b="1" dirty="0"/>
              <a:t> </a:t>
            </a:r>
            <a:r>
              <a:rPr b="1" dirty="0" err="1"/>
              <a:t>legalább</a:t>
            </a:r>
            <a:r>
              <a:rPr b="1" dirty="0"/>
              <a:t> </a:t>
            </a:r>
            <a:r>
              <a:rPr b="1" dirty="0" err="1"/>
              <a:t>olyan</a:t>
            </a:r>
            <a:r>
              <a:rPr b="1" dirty="0"/>
              <a:t> </a:t>
            </a:r>
            <a:r>
              <a:rPr b="1" dirty="0" err="1"/>
              <a:t>szűkek</a:t>
            </a:r>
            <a:r>
              <a:rPr b="1" dirty="0"/>
              <a:t>, mint a </a:t>
            </a:r>
            <a:r>
              <a:rPr b="1" dirty="0" err="1"/>
              <a:t>src</a:t>
            </a:r>
            <a:r>
              <a:rPr b="1" dirty="0"/>
              <a:t> </a:t>
            </a:r>
            <a:r>
              <a:rPr b="1" dirty="0" err="1"/>
              <a:t>predikátumai</a:t>
            </a:r>
            <a:endParaRPr lang="hu-HU" b="1" dirty="0"/>
          </a:p>
          <a:p>
            <a:pPr marL="0" indent="0">
              <a:lnSpc>
                <a:spcPct val="150000"/>
              </a:lnSpc>
              <a:buNone/>
              <a:defRPr sz="1800"/>
            </a:pPr>
            <a:r>
              <a:rPr lang="hu-HU" sz="2400" dirty="0"/>
              <a:t>3. </a:t>
            </a:r>
            <a:r>
              <a:rPr sz="2400" dirty="0"/>
              <a:t>Ha </a:t>
            </a:r>
            <a:r>
              <a:rPr sz="2400" dirty="0" err="1"/>
              <a:t>mindkettő</a:t>
            </a:r>
            <a:r>
              <a:rPr sz="2400" dirty="0"/>
              <a:t> </a:t>
            </a:r>
            <a:r>
              <a:rPr sz="2400" dirty="0" err="1"/>
              <a:t>igaz</a:t>
            </a:r>
            <a:r>
              <a:rPr sz="2400" dirty="0"/>
              <a:t> → a </a:t>
            </a:r>
            <a:r>
              <a:rPr sz="2400" dirty="0" err="1"/>
              <a:t>lépés</a:t>
            </a:r>
            <a:r>
              <a:rPr sz="2400" dirty="0"/>
              <a:t> </a:t>
            </a:r>
            <a:r>
              <a:rPr sz="2400" dirty="0" err="1"/>
              <a:t>kihagyható</a:t>
            </a:r>
            <a:endParaRPr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CF8F9C-89C6-96C3-A701-2E4C89B72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Algoritmus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A92141-173F-C741-41C8-7B89B65DD6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0" y="2682240"/>
            <a:ext cx="7955280" cy="3581400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hu-HU" sz="2400" dirty="0" err="1"/>
              <a:t>Topológikus</a:t>
            </a:r>
            <a:r>
              <a:rPr lang="hu-HU" sz="2400" dirty="0"/>
              <a:t> rendezés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hu-HU" sz="2400" dirty="0" err="1"/>
              <a:t>Forward</a:t>
            </a:r>
            <a:r>
              <a:rPr lang="hu-HU" sz="2400" dirty="0"/>
              <a:t> </a:t>
            </a:r>
            <a:r>
              <a:rPr lang="hu-HU" sz="2400" dirty="0" err="1"/>
              <a:t>pass</a:t>
            </a:r>
            <a:endParaRPr lang="hu-HU" sz="24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hu-HU" sz="2400" dirty="0" err="1"/>
              <a:t>Backward</a:t>
            </a:r>
            <a:r>
              <a:rPr lang="hu-HU" sz="2400" dirty="0"/>
              <a:t> </a:t>
            </a:r>
            <a:r>
              <a:rPr lang="hu-HU" sz="2400" dirty="0" err="1"/>
              <a:t>pass</a:t>
            </a:r>
            <a:endParaRPr lang="hu-HU" sz="24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hu-HU" sz="2400" dirty="0"/>
              <a:t>(</a:t>
            </a:r>
            <a:r>
              <a:rPr lang="hu-HU" sz="2400" dirty="0" err="1"/>
              <a:t>Join</a:t>
            </a:r>
            <a:r>
              <a:rPr lang="hu-HU" sz="2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88074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2900" y="764373"/>
            <a:ext cx="6936740" cy="1293028"/>
          </a:xfrm>
        </p:spPr>
        <p:txBody>
          <a:bodyPr/>
          <a:lstStyle/>
          <a:p>
            <a:r>
              <a:rPr dirty="0" err="1"/>
              <a:t>Tesztpélda</a:t>
            </a:r>
            <a:r>
              <a:rPr dirty="0"/>
              <a:t> : </a:t>
            </a:r>
            <a:r>
              <a:rPr lang="hu-HU" dirty="0"/>
              <a:t>Gyémánt</a:t>
            </a:r>
            <a:r>
              <a:rPr dirty="0"/>
              <a:t> </a:t>
            </a:r>
            <a:r>
              <a:rPr dirty="0" err="1"/>
              <a:t>gráf</a:t>
            </a:r>
            <a:endParaRPr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DF4426B0-88AF-9F73-AEA6-6BE5AD918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2900" y="2493627"/>
            <a:ext cx="6579730" cy="36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0017B-6984-C992-94C0-337FF5F5F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2FD39-BE94-FD01-A93B-5E4DC7F7E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2900" y="764373"/>
            <a:ext cx="6936740" cy="1293028"/>
          </a:xfrm>
        </p:spPr>
        <p:txBody>
          <a:bodyPr/>
          <a:lstStyle/>
          <a:p>
            <a:r>
              <a:rPr dirty="0" err="1"/>
              <a:t>Tesztpélda</a:t>
            </a:r>
            <a:r>
              <a:rPr dirty="0"/>
              <a:t> : </a:t>
            </a:r>
            <a:r>
              <a:rPr lang="hu-HU" dirty="0"/>
              <a:t>Gyémánt</a:t>
            </a:r>
            <a:r>
              <a:rPr dirty="0"/>
              <a:t> </a:t>
            </a:r>
            <a:r>
              <a:rPr dirty="0" err="1"/>
              <a:t>gráf</a:t>
            </a:r>
            <a:endParaRPr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0D032924-3B4D-3512-2BFE-27A7637C9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2900" y="2493627"/>
            <a:ext cx="6579729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3388884"/>
      </p:ext>
    </p:extLst>
  </p:cSld>
  <p:clrMapOvr>
    <a:masterClrMapping/>
  </p:clrMapOvr>
</p:sld>
</file>

<file path=ppt/theme/theme1.xml><?xml version="1.0" encoding="utf-8"?>
<a:theme xmlns:a="http://schemas.openxmlformats.org/drawingml/2006/main" name="Kondenzcsík">
  <a:themeElements>
    <a:clrScheme name="Kondenzcsík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ondenzcsík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TM04033937[[fn=Kondenzcsík]]</Template>
  <TotalTime>10892</TotalTime>
  <Words>239</Words>
  <Application>Microsoft Office PowerPoint</Application>
  <PresentationFormat>Diavetítés a képernyőre (4:3 oldalarány)</PresentationFormat>
  <Paragraphs>39</Paragraphs>
  <Slides>9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3" baseType="lpstr">
      <vt:lpstr>Arial</vt:lpstr>
      <vt:lpstr>Franklin Gothic Book</vt:lpstr>
      <vt:lpstr>Franklin Gothic Medium</vt:lpstr>
      <vt:lpstr>Kondenzcsík</vt:lpstr>
      <vt:lpstr>Algoritmus: Distributed Predicate Transfer és Pruning</vt:lpstr>
      <vt:lpstr>Motiváció: Miért kell Predicate Transfer?</vt:lpstr>
      <vt:lpstr>Predicate Transfer alapötlete</vt:lpstr>
      <vt:lpstr>Forward és Backward Pass</vt:lpstr>
      <vt:lpstr>Miért kell Pruning?</vt:lpstr>
      <vt:lpstr>Pruning feltételei</vt:lpstr>
      <vt:lpstr>Algoritmus</vt:lpstr>
      <vt:lpstr>Tesztpélda : Gyémánt gráf</vt:lpstr>
      <vt:lpstr>Tesztpélda : Gyémánt gráf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Légrádi Bence</cp:lastModifiedBy>
  <cp:revision>6</cp:revision>
  <dcterms:created xsi:type="dcterms:W3CDTF">2013-01-27T09:14:16Z</dcterms:created>
  <dcterms:modified xsi:type="dcterms:W3CDTF">2025-12-08T13:53:21Z</dcterms:modified>
  <cp:category/>
</cp:coreProperties>
</file>